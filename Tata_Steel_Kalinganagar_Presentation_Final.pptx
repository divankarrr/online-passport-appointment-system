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9460afe-a5db-f48a-b0fc-19a47928beca}">
          <p14:sldIdLst>
            <p14:sldId id="256"/>
            <p14:sldId id="257"/>
            <p14:sldId id="258"/>
          </p14:sldIdLst>
        </p14:section>
        <p14:section name="Requirements" id="{cde3dbdc-874d-7e61-f50f-1f3721abf1a1}">
          <p14:sldIdLst>
            <p14:sldId id="259"/>
            <p14:sldId id="260"/>
            <p14:sldId id="261"/>
          </p14:sldIdLst>
        </p14:section>
        <p14:section name="Design &amp; Testing" id="{6655eb2b-928a-32f6-67c5-2c2d61131fe8}">
          <p14:sldIdLst>
            <p14:sldId id="262"/>
            <p14:sldId id="263"/>
            <p14:sldId id="264"/>
          </p14:sldIdLst>
        </p14:section>
        <p14:section name="Intelligence" id="{024c49af-5719-6401-5cfe-265ee2547fa1}">
          <p14:sldIdLst>
            <p14:sldId id="265"/>
            <p14:sldId id="266"/>
            <p14:sldId id="267"/>
          </p14:sldIdLst>
        </p14:section>
        <p14:section name="Close" id="{c7a38ad5-5879-bb18-40da-23e1df0e955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SOFTWARE ENGINEERING LABORATORY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Steel: Kalinganagar Plant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Integrated Plant Monitoring &amp; Management Framework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/>
                </a:solidFill>
              </a:rPr>
              <a:t>Presented by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Dhruv Aggarwal  ·  Divankar Singh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Dipanshu  ·  Devenedra Jaiswal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Branch: CSE B   |   KIET Group of Institutions</a:t>
            </a:r>
            <a:endParaRPr lang="en-US" sz="1100" dirty="0"/>
          </a:p>
        </p:txBody>
      </p:sp>
      <p:sp>
        <p:nvSpPr>
          <p:cNvPr id="6" name="Hub ring"/>
          <p:cNvSpPr/>
          <p:nvPr/>
        </p:nvSpPr>
        <p:spPr>
          <a:xfrm>
            <a:off x="6492240" y="1645920"/>
            <a:ext cx="1828800" cy="1828800"/>
          </a:xfrm>
          <a:prstGeom prst="ellipse">
            <a:avLst/>
          </a:prstGeom>
          <a:ln w="12700">
            <a:solidFill>
              <a:schemeClr val="accent3"/>
            </a:solidFill>
            <a:prstDash val="dash"/>
          </a:ln>
        </p:spPr>
      </p:sp>
      <p:sp>
        <p:nvSpPr>
          <p:cNvPr id="7" name="Hub link"/>
          <p:cNvSpPr/>
          <p:nvPr/>
        </p:nvSpPr>
        <p:spPr>
          <a:xfrm>
            <a:off x="6400800" y="1325880"/>
            <a:ext cx="1005840" cy="1234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8" name="Hub link"/>
          <p:cNvSpPr/>
          <p:nvPr/>
        </p:nvSpPr>
        <p:spPr>
          <a:xfrm flipH="1">
            <a:off x="7406640" y="1325880"/>
            <a:ext cx="1005840" cy="1234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Hub link"/>
          <p:cNvSpPr/>
          <p:nvPr/>
        </p:nvSpPr>
        <p:spPr>
          <a:xfrm flipH="1">
            <a:off x="6400800" y="2560320"/>
            <a:ext cx="1005840" cy="1234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0" name="Hub link"/>
          <p:cNvSpPr/>
          <p:nvPr/>
        </p:nvSpPr>
        <p:spPr>
          <a:xfrm>
            <a:off x="7406640" y="2560320"/>
            <a:ext cx="1005840" cy="1234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1" name="Plant hub circle"/>
          <p:cNvSpPr/>
          <p:nvPr/>
        </p:nvSpPr>
        <p:spPr>
          <a:xfrm>
            <a:off x="6858000" y="20116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Plant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286000"/>
            <a:ext cx="548640" cy="548640"/>
          </a:xfrm>
          <a:prstGeom prst="rect">
            <a:avLst/>
          </a:prstGeom>
        </p:spPr>
      </p:pic>
      <p:sp>
        <p:nvSpPr>
          <p:cNvPr id="13" name="Module FaCogs circle"/>
          <p:cNvSpPr/>
          <p:nvPr/>
        </p:nvSpPr>
        <p:spPr>
          <a:xfrm>
            <a:off x="6035040" y="9601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Module 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365760" cy="365760"/>
          </a:xfrm>
          <a:prstGeom prst="rect">
            <a:avLst/>
          </a:prstGeom>
        </p:spPr>
      </p:pic>
      <p:sp>
        <p:nvSpPr>
          <p:cNvPr id="15" name="Module FaWrench circle"/>
          <p:cNvSpPr/>
          <p:nvPr/>
        </p:nvSpPr>
        <p:spPr>
          <a:xfrm>
            <a:off x="8046720" y="9601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Module FaWre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43000"/>
            <a:ext cx="365760" cy="365760"/>
          </a:xfrm>
          <a:prstGeom prst="rect">
            <a:avLst/>
          </a:prstGeom>
        </p:spPr>
      </p:pic>
      <p:sp>
        <p:nvSpPr>
          <p:cNvPr id="17" name="Module FaBoxes circle"/>
          <p:cNvSpPr/>
          <p:nvPr/>
        </p:nvSpPr>
        <p:spPr>
          <a:xfrm>
            <a:off x="6035040" y="34290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Module FaBox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11880"/>
            <a:ext cx="365760" cy="365760"/>
          </a:xfrm>
          <a:prstGeom prst="rect">
            <a:avLst/>
          </a:prstGeom>
        </p:spPr>
      </p:pic>
      <p:sp>
        <p:nvSpPr>
          <p:cNvPr id="19" name="Module FaClipboardCheck circle"/>
          <p:cNvSpPr/>
          <p:nvPr/>
        </p:nvSpPr>
        <p:spPr>
          <a:xfrm>
            <a:off x="8046720" y="34290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4" descr="Module FaClipboar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6118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Kalinganagar: The Facility</a:t>
            </a:r>
            <a:endParaRPr lang="en-US" sz="3000" dirty="0"/>
          </a:p>
        </p:txBody>
      </p:sp>
      <p:sp>
        <p:nvSpPr>
          <p:cNvPr id="3" name="Fact card 1"/>
          <p:cNvSpPr/>
          <p:nvPr/>
        </p:nvSpPr>
        <p:spPr>
          <a:xfrm>
            <a:off x="457200" y="1234440"/>
            <a:ext cx="50292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Premier steel pioneer circle"/>
          <p:cNvSpPr/>
          <p:nvPr/>
        </p:nvSpPr>
        <p:spPr>
          <a:xfrm>
            <a:off x="640080" y="1380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mier steel pion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95044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Premier steel pioneer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00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Tata Steel ranks among India's leading, state-of-the-art steel producers.</a:t>
            </a:r>
            <a:endParaRPr lang="en-US" sz="1250" dirty="0"/>
          </a:p>
        </p:txBody>
      </p:sp>
      <p:sp>
        <p:nvSpPr>
          <p:cNvPr id="8" name="Fact card 2"/>
          <p:cNvSpPr/>
          <p:nvPr/>
        </p:nvSpPr>
        <p:spPr>
          <a:xfrm>
            <a:off x="457200" y="2103120"/>
            <a:ext cx="50292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9" name="Flagship site in Odisha circle"/>
          <p:cNvSpPr/>
          <p:nvPr/>
        </p:nvSpPr>
        <p:spPr>
          <a:xfrm>
            <a:off x="640080" y="22494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lagship site in Odis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36372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Flagship site in Odisha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468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The Kalinganagar plant is strategically located in Odisha, India.</a:t>
            </a:r>
            <a:endParaRPr lang="en-US" sz="1250" dirty="0"/>
          </a:p>
        </p:txBody>
      </p:sp>
      <p:sp>
        <p:nvSpPr>
          <p:cNvPr id="13" name="Fact card 3"/>
          <p:cNvSpPr/>
          <p:nvPr/>
        </p:nvSpPr>
        <p:spPr>
          <a:xfrm>
            <a:off x="457200" y="2971800"/>
            <a:ext cx="50292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4" name="High-capacity processes circle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High-capacity proce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3240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High-capacity processes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3375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Modern industrial processes manufacture world-class steel products.</a:t>
            </a:r>
            <a:endParaRPr lang="en-US" sz="1250" dirty="0"/>
          </a:p>
        </p:txBody>
      </p:sp>
      <p:sp>
        <p:nvSpPr>
          <p:cNvPr id="18" name="Fact card 4"/>
          <p:cNvSpPr/>
          <p:nvPr/>
        </p:nvSpPr>
        <p:spPr>
          <a:xfrm>
            <a:off x="457200" y="3840480"/>
            <a:ext cx="50292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9" name="Automation at the core circle"/>
          <p:cNvSpPr/>
          <p:nvPr/>
        </p:nvSpPr>
        <p:spPr>
          <a:xfrm>
            <a:off x="640080" y="3986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Automation at the c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10108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Automation at the core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80160" y="42062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Integrated automation systems drive production yield and efficiency.</a:t>
            </a:r>
            <a:endParaRPr lang="en-US" sz="1250" dirty="0"/>
          </a:p>
        </p:txBody>
      </p:sp>
      <p:sp>
        <p:nvSpPr>
          <p:cNvPr id="23" name="Location panel"/>
          <p:cNvSpPr/>
          <p:nvPr/>
        </p:nvSpPr>
        <p:spPr>
          <a:xfrm>
            <a:off x="5760720" y="1234440"/>
            <a:ext cx="2926080" cy="3355848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24" name="Radar ring"/>
          <p:cNvSpPr/>
          <p:nvPr/>
        </p:nvSpPr>
        <p:spPr>
          <a:xfrm>
            <a:off x="5989320" y="1371600"/>
            <a:ext cx="2468880" cy="2468880"/>
          </a:xfrm>
          <a:prstGeom prst="ellipse">
            <a:avLst/>
          </a:prstGeom>
          <a:ln w="15875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25" name="Radar ring"/>
          <p:cNvSpPr/>
          <p:nvPr/>
        </p:nvSpPr>
        <p:spPr>
          <a:xfrm>
            <a:off x="6355080" y="1737360"/>
            <a:ext cx="1737360" cy="1737360"/>
          </a:xfrm>
          <a:prstGeom prst="ellipse">
            <a:avLst/>
          </a:prstGeom>
          <a:ln w="15875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26" name="Radar ring"/>
          <p:cNvSpPr/>
          <p:nvPr/>
        </p:nvSpPr>
        <p:spPr>
          <a:xfrm>
            <a:off x="6720840" y="2103120"/>
            <a:ext cx="1005840" cy="1005840"/>
          </a:xfrm>
          <a:prstGeom prst="ellipse">
            <a:avLst/>
          </a:prstGeom>
          <a:ln w="15875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27" name="Location pin circle"/>
          <p:cNvSpPr/>
          <p:nvPr/>
        </p:nvSpPr>
        <p:spPr>
          <a:xfrm>
            <a:off x="6858000" y="2240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4" descr="Location p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4231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94360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Kalinganagar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59436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Odisha, India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 Engineering in Heavy Industry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Four software modules keep operations monitored, recorded, stocked and quality-checked.</a:t>
            </a:r>
            <a:endParaRPr lang="en-US" sz="1400" dirty="0"/>
          </a:p>
        </p:txBody>
      </p:sp>
      <p:sp>
        <p:nvSpPr>
          <p:cNvPr id="4" name="Process Monitoring card"/>
          <p:cNvSpPr/>
          <p:nvPr/>
        </p:nvSpPr>
        <p:spPr>
          <a:xfrm>
            <a:off x="457200" y="1508760"/>
            <a:ext cx="402336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5" name="Process Monitoring circle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ocess Monit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8173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Monitoring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Telemetry tracking &amp; UI dashboards</a:t>
            </a:r>
            <a:endParaRPr lang="en-US" sz="1350" dirty="0"/>
          </a:p>
        </p:txBody>
      </p:sp>
      <p:sp>
        <p:nvSpPr>
          <p:cNvPr id="9" name="Architecture chip"/>
          <p:cNvSpPr/>
          <p:nvPr/>
        </p:nvSpPr>
        <p:spPr>
          <a:xfrm>
            <a:off x="1325880" y="2468880"/>
            <a:ext cx="297180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High-throughput messaging pipelines</a:t>
            </a:r>
            <a:endParaRPr lang="en-US" sz="1200" dirty="0"/>
          </a:p>
        </p:txBody>
      </p:sp>
      <p:sp>
        <p:nvSpPr>
          <p:cNvPr id="11" name="Data Collection card"/>
          <p:cNvSpPr/>
          <p:nvPr/>
        </p:nvSpPr>
        <p:spPr>
          <a:xfrm>
            <a:off x="4663440" y="1508760"/>
            <a:ext cx="402336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2" name="Data Collection circle"/>
          <p:cNvSpPr/>
          <p:nvPr/>
        </p:nvSpPr>
        <p:spPr>
          <a:xfrm>
            <a:off x="484632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Data Coll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8173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2039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Time-series logging and history</a:t>
            </a:r>
            <a:endParaRPr lang="en-US" sz="1350" dirty="0"/>
          </a:p>
        </p:txBody>
      </p:sp>
      <p:sp>
        <p:nvSpPr>
          <p:cNvPr id="16" name="Architecture chip"/>
          <p:cNvSpPr/>
          <p:nvPr/>
        </p:nvSpPr>
        <p:spPr>
          <a:xfrm>
            <a:off x="5532120" y="2468880"/>
            <a:ext cx="297180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623560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Relational &amp; NoSQL hybrid stores</a:t>
            </a:r>
            <a:endParaRPr lang="en-US" sz="1200" dirty="0"/>
          </a:p>
        </p:txBody>
      </p:sp>
      <p:sp>
        <p:nvSpPr>
          <p:cNvPr id="18" name="Inventory Logistics card"/>
          <p:cNvSpPr/>
          <p:nvPr/>
        </p:nvSpPr>
        <p:spPr>
          <a:xfrm>
            <a:off x="457200" y="3154680"/>
            <a:ext cx="402336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9" name="Inventory Logistics circle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Inventory Logis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4632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25880" y="3319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Inventory Logistics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2588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Supply tracking &amp; barcode syncing</a:t>
            </a:r>
            <a:endParaRPr lang="en-US" sz="1350" dirty="0"/>
          </a:p>
        </p:txBody>
      </p:sp>
      <p:sp>
        <p:nvSpPr>
          <p:cNvPr id="23" name="Architecture chip"/>
          <p:cNvSpPr/>
          <p:nvPr/>
        </p:nvSpPr>
        <p:spPr>
          <a:xfrm>
            <a:off x="1325880" y="4114800"/>
            <a:ext cx="297180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417320" y="4114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Enterprise resource integration</a:t>
            </a:r>
            <a:endParaRPr lang="en-US" sz="1200" dirty="0"/>
          </a:p>
        </p:txBody>
      </p:sp>
      <p:sp>
        <p:nvSpPr>
          <p:cNvPr id="25" name="Quality Management card"/>
          <p:cNvSpPr/>
          <p:nvPr/>
        </p:nvSpPr>
        <p:spPr>
          <a:xfrm>
            <a:off x="4663440" y="3154680"/>
            <a:ext cx="402336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6" name="Quality Management circle"/>
          <p:cNvSpPr/>
          <p:nvPr/>
        </p:nvSpPr>
        <p:spPr>
          <a:xfrm>
            <a:off x="484632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3" descr="Quality Manag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463290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532120" y="3319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Management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553212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Flaw matching and validation logs</a:t>
            </a:r>
            <a:endParaRPr lang="en-US" sz="1350" dirty="0"/>
          </a:p>
        </p:txBody>
      </p:sp>
      <p:sp>
        <p:nvSpPr>
          <p:cNvPr id="30" name="Architecture chip"/>
          <p:cNvSpPr/>
          <p:nvPr/>
        </p:nvSpPr>
        <p:spPr>
          <a:xfrm>
            <a:off x="5532120" y="4114800"/>
            <a:ext cx="2971800" cy="329184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623560" y="4114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Asynchronous event handling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Problem: Fragmented Operations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41148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Step 1"/>
          <p:cNvSpPr/>
          <p:nvPr/>
        </p:nvSpPr>
        <p:spPr>
          <a:xfrm>
            <a:off x="640080" y="142646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075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Fragmented tracking across decentralized smelting divisions.</a:t>
            </a:r>
            <a:endParaRPr lang="en-US" sz="1400" dirty="0"/>
          </a:p>
        </p:txBody>
      </p:sp>
      <p:sp>
        <p:nvSpPr>
          <p:cNvPr id="7" name="Problem card 2"/>
          <p:cNvSpPr/>
          <p:nvPr/>
        </p:nvSpPr>
        <p:spPr>
          <a:xfrm>
            <a:off x="457200" y="2103120"/>
            <a:ext cx="41148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8" name="Step 2"/>
          <p:cNvSpPr/>
          <p:nvPr/>
        </p:nvSpPr>
        <p:spPr>
          <a:xfrm>
            <a:off x="640080" y="229514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762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Delayed notifications fail to flag machinery anomalies early.</a:t>
            </a:r>
            <a:endParaRPr lang="en-US" sz="1400" dirty="0"/>
          </a:p>
        </p:txBody>
      </p:sp>
      <p:sp>
        <p:nvSpPr>
          <p:cNvPr id="11" name="Problem card 3"/>
          <p:cNvSpPr/>
          <p:nvPr/>
        </p:nvSpPr>
        <p:spPr>
          <a:xfrm>
            <a:off x="457200" y="2971800"/>
            <a:ext cx="41148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2" name="Step 3"/>
          <p:cNvSpPr/>
          <p:nvPr/>
        </p:nvSpPr>
        <p:spPr>
          <a:xfrm>
            <a:off x="640080" y="316382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449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Inconsistent warehouse records disrupt workflows and schedules.</a:t>
            </a:r>
            <a:endParaRPr lang="en-US" sz="1400" dirty="0"/>
          </a:p>
        </p:txBody>
      </p:sp>
      <p:sp>
        <p:nvSpPr>
          <p:cNvPr id="15" name="Problem card 4"/>
          <p:cNvSpPr/>
          <p:nvPr/>
        </p:nvSpPr>
        <p:spPr>
          <a:xfrm>
            <a:off x="457200" y="3840480"/>
            <a:ext cx="41148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6" name="Step 4"/>
          <p:cNvSpPr/>
          <p:nvPr/>
        </p:nvSpPr>
        <p:spPr>
          <a:xfrm>
            <a:off x="640080" y="403250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136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direct feedback loop, so quality slips take long to resolve.</a:t>
            </a:r>
            <a:endParaRPr lang="en-US" sz="1400" dirty="0"/>
          </a:p>
        </p:txBody>
      </p:sp>
      <p:sp>
        <p:nvSpPr>
          <p:cNvPr id="19" name="Hub link"/>
          <p:cNvSpPr/>
          <p:nvPr/>
        </p:nvSpPr>
        <p:spPr>
          <a:xfrm>
            <a:off x="5440680" y="1874520"/>
            <a:ext cx="1280160" cy="10515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0" name="Hub link"/>
          <p:cNvSpPr/>
          <p:nvPr/>
        </p:nvSpPr>
        <p:spPr>
          <a:xfrm flipH="1">
            <a:off x="6720840" y="1874520"/>
            <a:ext cx="1280160" cy="10515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1" name="Hub link"/>
          <p:cNvSpPr/>
          <p:nvPr/>
        </p:nvSpPr>
        <p:spPr>
          <a:xfrm flipH="1">
            <a:off x="5440680" y="2926080"/>
            <a:ext cx="1280160" cy="10515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2" name="Hub link"/>
          <p:cNvSpPr/>
          <p:nvPr/>
        </p:nvSpPr>
        <p:spPr>
          <a:xfrm>
            <a:off x="6720840" y="2926080"/>
            <a:ext cx="1280160" cy="10515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3" name="Unified system hub"/>
          <p:cNvSpPr/>
          <p:nvPr/>
        </p:nvSpPr>
        <p:spPr>
          <a:xfrm>
            <a:off x="6080760" y="22860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80760" y="2286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Unified System</a:t>
            </a:r>
            <a:endParaRPr lang="en-US" sz="1300" dirty="0"/>
          </a:p>
        </p:txBody>
      </p:sp>
      <p:sp>
        <p:nvSpPr>
          <p:cNvPr id="25" name="Production module"/>
          <p:cNvSpPr/>
          <p:nvPr/>
        </p:nvSpPr>
        <p:spPr>
          <a:xfrm>
            <a:off x="4800600" y="1618488"/>
            <a:ext cx="128016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16184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Production</a:t>
            </a:r>
            <a:endParaRPr lang="en-US" sz="1300" dirty="0"/>
          </a:p>
        </p:txBody>
      </p:sp>
      <p:sp>
        <p:nvSpPr>
          <p:cNvPr id="27" name="Maintenance module"/>
          <p:cNvSpPr/>
          <p:nvPr/>
        </p:nvSpPr>
        <p:spPr>
          <a:xfrm>
            <a:off x="7360920" y="1618488"/>
            <a:ext cx="128016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60920" y="16184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29" name="Inventory module"/>
          <p:cNvSpPr/>
          <p:nvPr/>
        </p:nvSpPr>
        <p:spPr>
          <a:xfrm>
            <a:off x="4800600" y="3721608"/>
            <a:ext cx="128016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37216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Inventory</a:t>
            </a:r>
            <a:endParaRPr lang="en-US" sz="1300" dirty="0"/>
          </a:p>
        </p:txBody>
      </p:sp>
      <p:sp>
        <p:nvSpPr>
          <p:cNvPr id="31" name="Quality module"/>
          <p:cNvSpPr/>
          <p:nvPr/>
        </p:nvSpPr>
        <p:spPr>
          <a:xfrm>
            <a:off x="7360920" y="3721608"/>
            <a:ext cx="1280160" cy="512064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60920" y="37216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Quality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One connected platform instead of four silos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MODULE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RESPONSIBILITY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132320" y="1051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SYSTEM TARGET</a:t>
            </a:r>
            <a:endParaRPr lang="en-US" sz="1000" dirty="0"/>
          </a:p>
        </p:txBody>
      </p:sp>
      <p:sp>
        <p:nvSpPr>
          <p:cNvPr id="6" name="Production Trackers row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7" name="Production Trackers circle"/>
          <p:cNvSpPr/>
          <p:nvPr/>
        </p:nvSpPr>
        <p:spPr>
          <a:xfrm>
            <a:off x="640080" y="149961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oduction Tra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1391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716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Production Trackers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3716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Log heat runs, pressures and temperatures continuously.</a:t>
            </a:r>
            <a:endParaRPr lang="en-US" sz="1350" dirty="0"/>
          </a:p>
        </p:txBody>
      </p:sp>
      <p:sp>
        <p:nvSpPr>
          <p:cNvPr id="11" name="Target chip"/>
          <p:cNvSpPr/>
          <p:nvPr/>
        </p:nvSpPr>
        <p:spPr>
          <a:xfrm>
            <a:off x="7132320" y="149961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14996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Process Transparency</a:t>
            </a:r>
            <a:endParaRPr lang="en-US" sz="1100" dirty="0"/>
          </a:p>
        </p:txBody>
      </p:sp>
      <p:sp>
        <p:nvSpPr>
          <p:cNvPr id="13" name="Inventory Control row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4" name="Inventory Control circle"/>
          <p:cNvSpPr/>
          <p:nvPr/>
        </p:nvSpPr>
        <p:spPr>
          <a:xfrm>
            <a:off x="640080" y="232257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Inventory Contr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436876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80160" y="2194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Inventory Control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194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Automate ledger additions and balance stock entries.</a:t>
            </a:r>
            <a:endParaRPr lang="en-US" sz="1350" dirty="0"/>
          </a:p>
        </p:txBody>
      </p:sp>
      <p:sp>
        <p:nvSpPr>
          <p:cNvPr id="18" name="Target chip"/>
          <p:cNvSpPr/>
          <p:nvPr/>
        </p:nvSpPr>
        <p:spPr>
          <a:xfrm>
            <a:off x="7132320" y="232257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178040" y="23225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Automated Audits</a:t>
            </a:r>
            <a:endParaRPr lang="en-US" sz="1100" dirty="0"/>
          </a:p>
        </p:txBody>
      </p:sp>
      <p:sp>
        <p:nvSpPr>
          <p:cNvPr id="20" name="Analytical Engine row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1" name="Analytical Engine circle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Analytical Eng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59836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80160" y="3017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Analytical Engine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474720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Compile production analytics into automated summaries.</a:t>
            </a:r>
            <a:endParaRPr lang="en-US" sz="1350" dirty="0"/>
          </a:p>
        </p:txBody>
      </p:sp>
      <p:sp>
        <p:nvSpPr>
          <p:cNvPr id="25" name="Target chip"/>
          <p:cNvSpPr/>
          <p:nvPr/>
        </p:nvSpPr>
        <p:spPr>
          <a:xfrm>
            <a:off x="7132320" y="314553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178040" y="31455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Management Dashboards</a:t>
            </a:r>
            <a:endParaRPr lang="en-US" sz="1100" dirty="0"/>
          </a:p>
        </p:txBody>
      </p:sp>
      <p:sp>
        <p:nvSpPr>
          <p:cNvPr id="27" name="Asynchronous Warnings row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8" name="Asynchronous Warnings circle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3" descr="Asynchronous Warni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082796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280160" y="38404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Asynchronous Warnings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3474720" y="38404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Push critical notices instantly when ranges are breached.</a:t>
            </a:r>
            <a:endParaRPr lang="en-US" sz="1350" dirty="0"/>
          </a:p>
        </p:txBody>
      </p:sp>
      <p:sp>
        <p:nvSpPr>
          <p:cNvPr id="32" name="Target chip"/>
          <p:cNvSpPr/>
          <p:nvPr/>
        </p:nvSpPr>
        <p:spPr>
          <a:xfrm>
            <a:off x="7132320" y="396849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178040" y="3968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Equipment Safety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Non-Functional Requirements</a:t>
            </a:r>
            <a:endParaRPr lang="en-US" sz="3000" dirty="0"/>
          </a:p>
        </p:txBody>
      </p:sp>
      <p:sp>
        <p:nvSpPr>
          <p:cNvPr id="3" name="Availability card"/>
          <p:cNvSpPr/>
          <p:nvPr/>
        </p:nvSpPr>
        <p:spPr>
          <a:xfrm>
            <a:off x="457200" y="123444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Availability circl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Avail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Availability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99.95%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annual uptime, 24/7 mill cycles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49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Redundant cluster failovers</a:t>
            </a:r>
            <a:endParaRPr lang="en-US" sz="1300" dirty="0"/>
          </a:p>
        </p:txBody>
      </p:sp>
      <p:sp>
        <p:nvSpPr>
          <p:cNvPr id="11" name="Security card"/>
          <p:cNvSpPr/>
          <p:nvPr/>
        </p:nvSpPr>
        <p:spPr>
          <a:xfrm>
            <a:off x="2560320" y="123444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2" name="Security circle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Secu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544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4320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unauthorized system leaks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743200" y="3749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Strict OAuth2 &amp; hardware keys</a:t>
            </a:r>
            <a:endParaRPr lang="en-US" sz="1300" dirty="0"/>
          </a:p>
        </p:txBody>
      </p:sp>
      <p:sp>
        <p:nvSpPr>
          <p:cNvPr id="19" name="Latency card"/>
          <p:cNvSpPr/>
          <p:nvPr/>
        </p:nvSpPr>
        <p:spPr>
          <a:xfrm>
            <a:off x="4663440" y="123444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0" name="Latency circle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2" descr="Latenc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4632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Latency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84632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 ms</a:t>
            </a:r>
            <a:endParaRPr 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processing delay for alerts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846320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846320" y="3749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In-memory caching architectures</a:t>
            </a:r>
            <a:endParaRPr lang="en-US" sz="1300" dirty="0"/>
          </a:p>
        </p:txBody>
      </p:sp>
      <p:sp>
        <p:nvSpPr>
          <p:cNvPr id="27" name="Scalability card"/>
          <p:cNvSpPr/>
          <p:nvPr/>
        </p:nvSpPr>
        <p:spPr>
          <a:xfrm>
            <a:off x="6766560" y="123444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8" name="Scalability circle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3" descr="Scalabil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5448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4944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2800" dirty="0"/>
          </a:p>
        </p:txBody>
      </p:sp>
      <p:sp>
        <p:nvSpPr>
          <p:cNvPr id="32" name="Text 26"/>
          <p:cNvSpPr txBox="1"/>
          <p:nvPr/>
        </p:nvSpPr>
        <p:spPr>
          <a:xfrm>
            <a:off x="694944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decoupled systems that scale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949440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949440" y="3749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Decoupled, independently scalable services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SDLC Framework</a:t>
            </a:r>
            <a:endParaRPr lang="en-US" sz="3000" dirty="0"/>
          </a:p>
        </p:txBody>
      </p:sp>
      <p:sp>
        <p:nvSpPr>
          <p:cNvPr id="3" name="Requirement Spec card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Step 1"/>
          <p:cNvSpPr/>
          <p:nvPr/>
        </p:nvSpPr>
        <p:spPr>
          <a:xfrm>
            <a:off x="621792" y="1344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Requirement Spec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10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Map plant pain points, user personas and physical sensors.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SRS Document</a:t>
            </a:r>
            <a:endParaRPr lang="en-US" sz="1150" dirty="0"/>
          </a:p>
        </p:txBody>
      </p:sp>
      <p:sp>
        <p:nvSpPr>
          <p:cNvPr id="9" name="Structural Design card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0" name="Step 2"/>
          <p:cNvSpPr/>
          <p:nvPr/>
        </p:nvSpPr>
        <p:spPr>
          <a:xfrm>
            <a:off x="3410712" y="1344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1071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04488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Structural 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810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Model databases, backend services and network mapping.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UML Blueprints</a:t>
            </a:r>
            <a:endParaRPr lang="en-US" sz="1150" dirty="0"/>
          </a:p>
        </p:txBody>
      </p:sp>
      <p:sp>
        <p:nvSpPr>
          <p:cNvPr id="15" name="Implementation card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6" name="Step 3"/>
          <p:cNvSpPr/>
          <p:nvPr/>
        </p:nvSpPr>
        <p:spPr>
          <a:xfrm>
            <a:off x="6199632" y="1344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9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18105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Code functional features and database queries.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Application Code</a:t>
            </a:r>
            <a:endParaRPr lang="en-US" sz="1150" dirty="0"/>
          </a:p>
        </p:txBody>
      </p:sp>
      <p:sp>
        <p:nvSpPr>
          <p:cNvPr id="21" name="Testing Routines card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2" name="Step 4"/>
          <p:cNvSpPr/>
          <p:nvPr/>
        </p:nvSpPr>
        <p:spPr>
          <a:xfrm>
            <a:off x="621792" y="3035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Testing Routines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502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Run test suites, performance loops and load tests.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QA Evaluation Report</a:t>
            </a:r>
            <a:endParaRPr lang="en-US" sz="1150" dirty="0"/>
          </a:p>
        </p:txBody>
      </p:sp>
      <p:sp>
        <p:nvSpPr>
          <p:cNvPr id="27" name="Production Launch card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8" name="Step 5"/>
          <p:cNvSpPr/>
          <p:nvPr/>
        </p:nvSpPr>
        <p:spPr>
          <a:xfrm>
            <a:off x="3410712" y="3035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1071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904488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Production Launch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410712" y="3502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Install local equipment, link nodes, configure routes.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410712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Active Deployment</a:t>
            </a:r>
            <a:endParaRPr lang="en-US" sz="1150" dirty="0"/>
          </a:p>
        </p:txBody>
      </p:sp>
      <p:sp>
        <p:nvSpPr>
          <p:cNvPr id="33" name="Routine Maintenance card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34" name="Step 6"/>
          <p:cNvSpPr/>
          <p:nvPr/>
        </p:nvSpPr>
        <p:spPr>
          <a:xfrm>
            <a:off x="6199632" y="30358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9963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93408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Routine Maintenance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199632" y="35021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Remediate defects, adjust features, track performance.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199632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Deliverable: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Continuous Patching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Iterative cycle: maintenance feedback flows back into requirements.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Quality Testing Methodology</a:t>
            </a:r>
            <a:endParaRPr lang="en-US" sz="3000" dirty="0"/>
          </a:p>
        </p:txBody>
      </p:sp>
      <p:sp>
        <p:nvSpPr>
          <p:cNvPr id="3" name="Start pill"/>
          <p:cNvSpPr/>
          <p:nvPr/>
        </p:nvSpPr>
        <p:spPr>
          <a:xfrm>
            <a:off x="457200" y="118872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Code check-in</a:t>
            </a:r>
            <a:endParaRPr lang="en-US" sz="1200" dirty="0"/>
          </a:p>
        </p:txBody>
      </p:sp>
      <p:sp>
        <p:nvSpPr>
          <p:cNvPr id="5" name="End pill"/>
          <p:cNvSpPr/>
          <p:nvPr/>
        </p:nvSpPr>
        <p:spPr>
          <a:xfrm>
            <a:off x="7223760" y="118872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Production build</a:t>
            </a:r>
            <a:endParaRPr lang="en-US" sz="1200" dirty="0"/>
          </a:p>
        </p:txBody>
      </p:sp>
      <p:sp>
        <p:nvSpPr>
          <p:cNvPr id="7" name="Pipeline arrow"/>
          <p:cNvSpPr/>
          <p:nvPr/>
        </p:nvSpPr>
        <p:spPr>
          <a:xfrm>
            <a:off x="2011680" y="1371600"/>
            <a:ext cx="5120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Unit Testing card"/>
          <p:cNvSpPr/>
          <p:nvPr/>
        </p:nvSpPr>
        <p:spPr>
          <a:xfrm>
            <a:off x="457200" y="178308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9" name="Unit Testing circle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0" descr="Unit Te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209169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 Testing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9923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Verifies data operations inside isolated code classes.</a:t>
            </a:r>
            <a:endParaRPr lang="en-US" sz="1250" dirty="0"/>
          </a:p>
        </p:txBody>
      </p:sp>
      <p:sp>
        <p:nvSpPr>
          <p:cNvPr id="13" name="Integration card"/>
          <p:cNvSpPr/>
          <p:nvPr/>
        </p:nvSpPr>
        <p:spPr>
          <a:xfrm>
            <a:off x="2130552" y="178308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4" name="Integration circle"/>
          <p:cNvSpPr/>
          <p:nvPr/>
        </p:nvSpPr>
        <p:spPr>
          <a:xfrm>
            <a:off x="2313432" y="1965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Integ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162" y="209169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67712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267712" y="299923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Validates real-time sensor outputs against backend modules.</a:t>
            </a:r>
            <a:endParaRPr lang="en-US" sz="1250" dirty="0"/>
          </a:p>
        </p:txBody>
      </p:sp>
      <p:sp>
        <p:nvSpPr>
          <p:cNvPr id="18" name="End-to-End card"/>
          <p:cNvSpPr/>
          <p:nvPr/>
        </p:nvSpPr>
        <p:spPr>
          <a:xfrm>
            <a:off x="3803904" y="178308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9" name="End-to-End circle"/>
          <p:cNvSpPr/>
          <p:nvPr/>
        </p:nvSpPr>
        <p:spPr>
          <a:xfrm>
            <a:off x="3986784" y="1965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End-to-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514" y="209169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41064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End-to-End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941064" y="299923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Exercises full behavior from sensor node to dashboard panel.</a:t>
            </a:r>
            <a:endParaRPr lang="en-US" sz="1250" dirty="0"/>
          </a:p>
        </p:txBody>
      </p:sp>
      <p:sp>
        <p:nvSpPr>
          <p:cNvPr id="23" name="Access Control card"/>
          <p:cNvSpPr/>
          <p:nvPr/>
        </p:nvSpPr>
        <p:spPr>
          <a:xfrm>
            <a:off x="5477256" y="178308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4" name="Access Control circle"/>
          <p:cNvSpPr/>
          <p:nvPr/>
        </p:nvSpPr>
        <p:spPr>
          <a:xfrm>
            <a:off x="5660136" y="1965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3" descr="Access Contr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866" y="209169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14416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Access Control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614416" y="299923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Audits malicious payload rejection and security permissions.</a:t>
            </a:r>
            <a:endParaRPr lang="en-US" sz="1250" dirty="0"/>
          </a:p>
        </p:txBody>
      </p:sp>
      <p:sp>
        <p:nvSpPr>
          <p:cNvPr id="28" name="Stress &amp; Load card"/>
          <p:cNvSpPr/>
          <p:nvPr/>
        </p:nvSpPr>
        <p:spPr>
          <a:xfrm>
            <a:off x="7150608" y="1783080"/>
            <a:ext cx="1536192" cy="274320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9" name="Stress &amp; Load circle"/>
          <p:cNvSpPr/>
          <p:nvPr/>
        </p:nvSpPr>
        <p:spPr>
          <a:xfrm>
            <a:off x="7333488" y="1965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4" descr="Stress &amp; Lo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218" y="209169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87768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Stress &amp; Load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287768" y="299923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Tests load thresholds under heavy concurrent telemetry.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Projected Benefits &amp; ROI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Current fragmented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Proposed integrated platform</a:t>
            </a:r>
            <a:endParaRPr lang="en-US" sz="1400" dirty="0"/>
          </a:p>
        </p:txBody>
      </p:sp>
      <p:sp>
        <p:nvSpPr>
          <p:cNvPr id="5" name="Factor chip"/>
          <p:cNvSpPr/>
          <p:nvPr/>
        </p:nvSpPr>
        <p:spPr>
          <a:xfrm>
            <a:off x="457200" y="1508760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087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Visibility</a:t>
            </a:r>
            <a:endParaRPr lang="en-US" sz="1300" dirty="0"/>
          </a:p>
        </p:txBody>
      </p:sp>
      <p:sp>
        <p:nvSpPr>
          <p:cNvPr id="7" name="Current card"/>
          <p:cNvSpPr/>
          <p:nvPr/>
        </p:nvSpPr>
        <p:spPr>
          <a:xfrm>
            <a:off x="2377440" y="150876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1508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Siloed department databases</a:t>
            </a:r>
            <a:endParaRPr lang="en-US" sz="1350" dirty="0"/>
          </a:p>
        </p:txBody>
      </p:sp>
      <p:sp>
        <p:nvSpPr>
          <p:cNvPr id="9" name="Arrow"/>
          <p:cNvSpPr/>
          <p:nvPr/>
        </p:nvSpPr>
        <p:spPr>
          <a:xfrm>
            <a:off x="5321808" y="1700784"/>
            <a:ext cx="4114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Proposed card"/>
          <p:cNvSpPr/>
          <p:nvPr/>
        </p:nvSpPr>
        <p:spPr>
          <a:xfrm>
            <a:off x="5852160" y="150876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9320" y="1508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Unified, comprehensive telemetry screen</a:t>
            </a:r>
            <a:endParaRPr lang="en-US" sz="1350" dirty="0"/>
          </a:p>
        </p:txBody>
      </p:sp>
      <p:sp>
        <p:nvSpPr>
          <p:cNvPr id="12" name="Factor chip"/>
          <p:cNvSpPr/>
          <p:nvPr/>
        </p:nvSpPr>
        <p:spPr>
          <a:xfrm>
            <a:off x="457200" y="2286000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286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Anomaly Response</a:t>
            </a:r>
            <a:endParaRPr lang="en-US" sz="1300" dirty="0"/>
          </a:p>
        </p:txBody>
      </p:sp>
      <p:sp>
        <p:nvSpPr>
          <p:cNvPr id="14" name="Current card"/>
          <p:cNvSpPr/>
          <p:nvPr/>
        </p:nvSpPr>
        <p:spPr>
          <a:xfrm>
            <a:off x="2377440" y="228600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14600" y="22860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Delayed detection cycles</a:t>
            </a:r>
            <a:endParaRPr lang="en-US" sz="1350" dirty="0"/>
          </a:p>
        </p:txBody>
      </p:sp>
      <p:sp>
        <p:nvSpPr>
          <p:cNvPr id="16" name="Arrow"/>
          <p:cNvSpPr/>
          <p:nvPr/>
        </p:nvSpPr>
        <p:spPr>
          <a:xfrm>
            <a:off x="5321808" y="2478024"/>
            <a:ext cx="4114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Proposed card"/>
          <p:cNvSpPr/>
          <p:nvPr/>
        </p:nvSpPr>
        <p:spPr>
          <a:xfrm>
            <a:off x="5852160" y="228600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89320" y="22860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Instant alerts to avert damage</a:t>
            </a:r>
            <a:endParaRPr lang="en-US" sz="1350" dirty="0"/>
          </a:p>
        </p:txBody>
      </p:sp>
      <p:sp>
        <p:nvSpPr>
          <p:cNvPr id="19" name="Factor chip"/>
          <p:cNvSpPr/>
          <p:nvPr/>
        </p:nvSpPr>
        <p:spPr>
          <a:xfrm>
            <a:off x="457200" y="3063240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30632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Inventory Tracking</a:t>
            </a:r>
            <a:endParaRPr lang="en-US" sz="1300" dirty="0"/>
          </a:p>
        </p:txBody>
      </p:sp>
      <p:sp>
        <p:nvSpPr>
          <p:cNvPr id="21" name="Current card"/>
          <p:cNvSpPr/>
          <p:nvPr/>
        </p:nvSpPr>
        <p:spPr>
          <a:xfrm>
            <a:off x="2377440" y="306324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14600" y="3063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Prone to accounting errors</a:t>
            </a:r>
            <a:endParaRPr lang="en-US" sz="1350" dirty="0"/>
          </a:p>
        </p:txBody>
      </p:sp>
      <p:sp>
        <p:nvSpPr>
          <p:cNvPr id="23" name="Arrow"/>
          <p:cNvSpPr/>
          <p:nvPr/>
        </p:nvSpPr>
        <p:spPr>
          <a:xfrm>
            <a:off x="5321808" y="3255264"/>
            <a:ext cx="4114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4" name="Proposed card"/>
          <p:cNvSpPr/>
          <p:nvPr/>
        </p:nvSpPr>
        <p:spPr>
          <a:xfrm>
            <a:off x="5852160" y="306324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89320" y="30632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Synchronized live database ledgers</a:t>
            </a:r>
            <a:endParaRPr lang="en-US" sz="1350" dirty="0"/>
          </a:p>
        </p:txBody>
      </p:sp>
      <p:sp>
        <p:nvSpPr>
          <p:cNvPr id="26" name="Factor chip"/>
          <p:cNvSpPr/>
          <p:nvPr/>
        </p:nvSpPr>
        <p:spPr>
          <a:xfrm>
            <a:off x="457200" y="3840480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38404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Strategic Planning</a:t>
            </a:r>
            <a:endParaRPr lang="en-US" sz="1300" dirty="0"/>
          </a:p>
        </p:txBody>
      </p:sp>
      <p:sp>
        <p:nvSpPr>
          <p:cNvPr id="28" name="Current card"/>
          <p:cNvSpPr/>
          <p:nvPr/>
        </p:nvSpPr>
        <p:spPr>
          <a:xfrm>
            <a:off x="2377440" y="384048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14600" y="3840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Guesswork on asset status</a:t>
            </a:r>
            <a:endParaRPr lang="en-US" sz="1350" dirty="0"/>
          </a:p>
        </p:txBody>
      </p:sp>
      <p:sp>
        <p:nvSpPr>
          <p:cNvPr id="30" name="Arrow"/>
          <p:cNvSpPr/>
          <p:nvPr/>
        </p:nvSpPr>
        <p:spPr>
          <a:xfrm>
            <a:off x="5321808" y="4032504"/>
            <a:ext cx="4114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Proposed card"/>
          <p:cNvSpPr/>
          <p:nvPr/>
        </p:nvSpPr>
        <p:spPr>
          <a:xfrm>
            <a:off x="5852160" y="3840480"/>
            <a:ext cx="2834640" cy="658368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89320" y="38404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Informed upkeep from analytics history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Predictive Analytics &amp; Digital Twins</a:t>
            </a:r>
            <a:endParaRPr lang="en-US" sz="3000" dirty="0"/>
          </a:p>
        </p:txBody>
      </p:sp>
      <p:sp>
        <p:nvSpPr>
          <p:cNvPr id="3" name="Physical plant &amp; sensors"/>
          <p:cNvSpPr/>
          <p:nvPr/>
        </p:nvSpPr>
        <p:spPr>
          <a:xfrm>
            <a:off x="457200" y="123444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pic>
        <p:nvPicPr>
          <p:cNvPr id="4" name="Image 0" descr="Physical plant &amp; sens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35608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Physical plant &amp; sensors</a:t>
            </a:r>
            <a:endParaRPr lang="en-US" sz="1400" dirty="0"/>
          </a:p>
        </p:txBody>
      </p:sp>
      <p:sp>
        <p:nvSpPr>
          <p:cNvPr id="6" name="Digital twin: live virtual replica"/>
          <p:cNvSpPr/>
          <p:nvPr/>
        </p:nvSpPr>
        <p:spPr>
          <a:xfrm>
            <a:off x="457200" y="242316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pic>
        <p:nvPicPr>
          <p:cNvPr id="7" name="Image 1" descr="Digital twin: live virtual repl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2432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423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Digital twin: live virtual replica</a:t>
            </a:r>
            <a:endParaRPr lang="en-US" sz="1400" dirty="0"/>
          </a:p>
        </p:txBody>
      </p:sp>
      <p:sp>
        <p:nvSpPr>
          <p:cNvPr id="9" name="Predict, simulate, optimize"/>
          <p:cNvSpPr/>
          <p:nvPr/>
        </p:nvSpPr>
        <p:spPr>
          <a:xfrm>
            <a:off x="457200" y="3611880"/>
            <a:ext cx="347472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pic>
        <p:nvPicPr>
          <p:cNvPr id="10" name="Image 2" descr="Predict, simulate, optimi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30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611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Predict, simulate, optimize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2011680" y="2057400"/>
            <a:ext cx="365760" cy="347472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3" name="Flow arrow"/>
          <p:cNvSpPr/>
          <p:nvPr/>
        </p:nvSpPr>
        <p:spPr>
          <a:xfrm>
            <a:off x="2011680" y="3246120"/>
            <a:ext cx="365760" cy="347472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4" name="Digital Twin Framework card"/>
          <p:cNvSpPr/>
          <p:nvPr/>
        </p:nvSpPr>
        <p:spPr>
          <a:xfrm>
            <a:off x="4297680" y="1234440"/>
            <a:ext cx="43891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5" name="Digital Twin Framework circle"/>
          <p:cNvSpPr/>
          <p:nvPr/>
        </p:nvSpPr>
        <p:spPr>
          <a:xfrm>
            <a:off x="4462272" y="13898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Digital Twin Frame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49504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29200" y="1307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Digital Twin Framework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Live virtual replica of production systems.</a:t>
            </a:r>
            <a:endParaRPr lang="en-US" sz="1250" dirty="0"/>
          </a:p>
        </p:txBody>
      </p:sp>
      <p:sp>
        <p:nvSpPr>
          <p:cNvPr id="19" name="Proactive Failure Prediction card"/>
          <p:cNvSpPr/>
          <p:nvPr/>
        </p:nvSpPr>
        <p:spPr>
          <a:xfrm>
            <a:off x="4297680" y="2057400"/>
            <a:ext cx="43891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0" name="Proactive Failure Prediction circle"/>
          <p:cNvSpPr/>
          <p:nvPr/>
        </p:nvSpPr>
        <p:spPr>
          <a:xfrm>
            <a:off x="4462272" y="221284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oactive Failure Predic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428" y="231800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2920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Proactive Failure Prediction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029200" y="2441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Forecasts asset wear from sensor pattern logs.</a:t>
            </a:r>
            <a:endParaRPr lang="en-US" sz="1250" dirty="0"/>
          </a:p>
        </p:txBody>
      </p:sp>
      <p:sp>
        <p:nvSpPr>
          <p:cNvPr id="24" name="Parameter Optimization card"/>
          <p:cNvSpPr/>
          <p:nvPr/>
        </p:nvSpPr>
        <p:spPr>
          <a:xfrm>
            <a:off x="4297680" y="2880360"/>
            <a:ext cx="43891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25" name="Parameter Optimization circle"/>
          <p:cNvSpPr/>
          <p:nvPr/>
        </p:nvSpPr>
        <p:spPr>
          <a:xfrm>
            <a:off x="4462272" y="303580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5" descr="Parameter Optimiz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3140964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02920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Parameter Optimization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5029200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Tests process variations in a sandbox first.</a:t>
            </a:r>
            <a:endParaRPr lang="en-US" sz="1250" dirty="0"/>
          </a:p>
        </p:txBody>
      </p:sp>
      <p:sp>
        <p:nvSpPr>
          <p:cNvPr id="29" name="Defect Prevention Design card"/>
          <p:cNvSpPr/>
          <p:nvPr/>
        </p:nvSpPr>
        <p:spPr>
          <a:xfrm>
            <a:off x="4297680" y="3703320"/>
            <a:ext cx="43891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30" name="Defect Prevention Design circle"/>
          <p:cNvSpPr/>
          <p:nvPr/>
        </p:nvSpPr>
        <p:spPr>
          <a:xfrm>
            <a:off x="4462272" y="385876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6" descr="Defect Prevention Desig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428" y="3963924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02920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Defect Prevention Design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502920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Spots early anomalies before the pouring stage.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AI-Driven Quality Assurance</a:t>
            </a:r>
            <a:endParaRPr lang="en-US" sz="3000" dirty="0"/>
          </a:p>
        </p:txBody>
      </p:sp>
      <p:sp>
        <p:nvSpPr>
          <p:cNvPr id="3" name="Surface Scan Engine card"/>
          <p:cNvSpPr/>
          <p:nvPr/>
        </p:nvSpPr>
        <p:spPr>
          <a:xfrm>
            <a:off x="457200" y="1188720"/>
            <a:ext cx="265176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Surface Scan Engine circl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urface Scan Eng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Surface Scan Engine</a:t>
            </a:r>
            <a:endParaRPr lang="en-US" sz="1450" dirty="0"/>
          </a:p>
        </p:txBody>
      </p:sp>
      <p:sp>
        <p:nvSpPr>
          <p:cNvPr id="7" name="Model chip"/>
          <p:cNvSpPr/>
          <p:nvPr/>
        </p:nvSpPr>
        <p:spPr>
          <a:xfrm>
            <a:off x="640080" y="1993392"/>
            <a:ext cx="2286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993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Convolutional Neural Networks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Real-time micro-fracture tagging</a:t>
            </a:r>
            <a:endParaRPr lang="en-US" sz="1350" dirty="0"/>
          </a:p>
        </p:txBody>
      </p:sp>
      <p:sp>
        <p:nvSpPr>
          <p:cNvPr id="10" name="Throughput Optimization card"/>
          <p:cNvSpPr/>
          <p:nvPr/>
        </p:nvSpPr>
        <p:spPr>
          <a:xfrm>
            <a:off x="3246120" y="1188720"/>
            <a:ext cx="265176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1" name="Throughput Optimization circle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Throughput Optimiz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Throughput Optimization</a:t>
            </a:r>
            <a:endParaRPr lang="en-US" sz="1450" dirty="0"/>
          </a:p>
        </p:txBody>
      </p:sp>
      <p:sp>
        <p:nvSpPr>
          <p:cNvPr id="14" name="Model chip"/>
          <p:cNvSpPr/>
          <p:nvPr/>
        </p:nvSpPr>
        <p:spPr>
          <a:xfrm>
            <a:off x="3429000" y="1993392"/>
            <a:ext cx="2286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29000" y="1993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Reinforcement Learning Core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Optimized cooling-line adjustments</a:t>
            </a:r>
            <a:endParaRPr lang="en-US" sz="1350" dirty="0"/>
          </a:p>
        </p:txBody>
      </p:sp>
      <p:sp>
        <p:nvSpPr>
          <p:cNvPr id="17" name="Flaw Classification card"/>
          <p:cNvSpPr/>
          <p:nvPr/>
        </p:nvSpPr>
        <p:spPr>
          <a:xfrm>
            <a:off x="6035040" y="1188720"/>
            <a:ext cx="265176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8" name="Flaw Classification circle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Flaw Classif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1228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Flaw Classification</a:t>
            </a:r>
            <a:endParaRPr lang="en-US" sz="1450" dirty="0"/>
          </a:p>
        </p:txBody>
      </p:sp>
      <p:sp>
        <p:nvSpPr>
          <p:cNvPr id="21" name="Model chip"/>
          <p:cNvSpPr/>
          <p:nvPr/>
        </p:nvSpPr>
        <p:spPr>
          <a:xfrm>
            <a:off x="6217920" y="1993392"/>
            <a:ext cx="22860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217920" y="1993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Supervised Pattern Parsers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Precise categorization of steel grades</a:t>
            </a:r>
            <a:endParaRPr lang="en-US" sz="1350" dirty="0"/>
          </a:p>
        </p:txBody>
      </p:sp>
      <p:pic>
        <p:nvPicPr>
          <p:cNvPr id="24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564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68680" y="3383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Surface defect tracking: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live vision matches micro-fractures</a:t>
            </a:r>
            <a:endParaRPr lang="en-US" sz="1250" dirty="0"/>
          </a:p>
        </p:txBody>
      </p:sp>
      <p:pic>
        <p:nvPicPr>
          <p:cNvPr id="26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4564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3383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Yield optimization: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dynamically minimizes scrap across steps</a:t>
            </a:r>
            <a:endParaRPr lang="en-US" sz="1250" dirty="0"/>
          </a:p>
        </p:txBody>
      </p:sp>
      <p:pic>
        <p:nvPicPr>
          <p:cNvPr id="28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868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Immediate error response: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signals line components to adjust on fault</a:t>
            </a:r>
            <a:endParaRPr lang="en-US" sz="1250" dirty="0"/>
          </a:p>
        </p:txBody>
      </p:sp>
      <p:pic>
        <p:nvPicPr>
          <p:cNvPr id="30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11480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07492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Unified records: </a:t>
            </a:r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quality indicators flow into master files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Sustainable Operations via Digital Twins</a:t>
            </a:r>
            <a:endParaRPr lang="en-US" sz="3000" dirty="0"/>
          </a:p>
        </p:txBody>
      </p:sp>
      <p:sp>
        <p:nvSpPr>
          <p:cNvPr id="3" name="Carbon Footprint Audits card"/>
          <p:cNvSpPr/>
          <p:nvPr/>
        </p:nvSpPr>
        <p:spPr>
          <a:xfrm>
            <a:off x="457200" y="123444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4" name="Carbon Footprint Audits circle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Carbon Footprint Aud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Carbon Footprint Audits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Measures process exhaust dynamically to stay within compliance thresholds.</a:t>
            </a:r>
            <a:endParaRPr lang="en-US" sz="1250" dirty="0"/>
          </a:p>
        </p:txBody>
      </p:sp>
      <p:sp>
        <p:nvSpPr>
          <p:cNvPr id="8" name="Energy Demand Mapping card"/>
          <p:cNvSpPr/>
          <p:nvPr/>
        </p:nvSpPr>
        <p:spPr>
          <a:xfrm>
            <a:off x="2560320" y="123444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9" name="Energy Demand Mapping circle"/>
          <p:cNvSpPr/>
          <p:nvPr/>
        </p:nvSpPr>
        <p:spPr>
          <a:xfrm>
            <a:off x="274320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Energy Demand Mapp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Energy Demand Mapping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926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Traces machine energy draw to scale down grid demand.</a:t>
            </a:r>
            <a:endParaRPr lang="en-US" sz="1250" dirty="0"/>
          </a:p>
        </p:txBody>
      </p:sp>
      <p:sp>
        <p:nvSpPr>
          <p:cNvPr id="13" name="Input Waste Reduction card"/>
          <p:cNvSpPr/>
          <p:nvPr/>
        </p:nvSpPr>
        <p:spPr>
          <a:xfrm>
            <a:off x="4663440" y="123444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4" name="Input Waste Reduction circle"/>
          <p:cNvSpPr/>
          <p:nvPr/>
        </p:nvSpPr>
        <p:spPr>
          <a:xfrm>
            <a:off x="484632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Input Waste Redu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 Waste Reduction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926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Matches raw material additions to target orders exactly.</a:t>
            </a:r>
            <a:endParaRPr lang="en-US" sz="1250" dirty="0"/>
          </a:p>
        </p:txBody>
      </p:sp>
      <p:sp>
        <p:nvSpPr>
          <p:cNvPr id="18" name="Eco Standard Alignment card"/>
          <p:cNvSpPr/>
          <p:nvPr/>
        </p:nvSpPr>
        <p:spPr>
          <a:xfrm>
            <a:off x="6766560" y="123444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2E">
                <a:alpha val="12000"/>
              </a:srgbClr>
            </a:outerShdw>
          </a:effectLst>
        </p:spPr>
      </p:sp>
      <p:sp>
        <p:nvSpPr>
          <p:cNvPr id="19" name="Eco Standard Alignment circle"/>
          <p:cNvSpPr/>
          <p:nvPr/>
        </p:nvSpPr>
        <p:spPr>
          <a:xfrm>
            <a:off x="694944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Eco Standard Align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45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Eco Standard Alignment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9260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Uses software tools to cut environmental impact.</a:t>
            </a:r>
            <a:endParaRPr lang="en-US" sz="1250" dirty="0"/>
          </a:p>
        </p:txBody>
      </p:sp>
      <p:sp>
        <p:nvSpPr>
          <p:cNvPr id="23" name="Takeaway banner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lever is tuned and tested in the digital twin before it reaches the plant floor.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&amp; Key Takeaways</a:t>
            </a:r>
            <a:endParaRPr lang="en-US" sz="3000" dirty="0"/>
          </a:p>
        </p:txBody>
      </p:sp>
      <p:sp>
        <p:nvSpPr>
          <p:cNvPr id="3" name="Takeaway 1"/>
          <p:cNvSpPr/>
          <p:nvPr/>
        </p:nvSpPr>
        <p:spPr>
          <a:xfrm>
            <a:off x="457200" y="1280160"/>
            <a:ext cx="566928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</p:sp>
      <p:sp>
        <p:nvSpPr>
          <p:cNvPr id="4" name="Step 1"/>
          <p:cNvSpPr/>
          <p:nvPr/>
        </p:nvSpPr>
        <p:spPr>
          <a:xfrm>
            <a:off x="640080" y="14721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Software engineering principles are the baseline of every smart factory.</a:t>
            </a:r>
            <a:endParaRPr lang="en-US" sz="1450" dirty="0"/>
          </a:p>
        </p:txBody>
      </p:sp>
      <p:sp>
        <p:nvSpPr>
          <p:cNvPr id="7" name="Takeaway 2"/>
          <p:cNvSpPr/>
          <p:nvPr/>
        </p:nvSpPr>
        <p:spPr>
          <a:xfrm>
            <a:off x="457200" y="2148840"/>
            <a:ext cx="566928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</p:sp>
      <p:sp>
        <p:nvSpPr>
          <p:cNvPr id="8" name="Step 2"/>
          <p:cNvSpPr/>
          <p:nvPr/>
        </p:nvSpPr>
        <p:spPr>
          <a:xfrm>
            <a:off x="640080" y="23408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Integrated systems deliver visibility, database accuracy and reliable analytics.</a:t>
            </a:r>
            <a:endParaRPr lang="en-US" sz="1450" dirty="0"/>
          </a:p>
        </p:txBody>
      </p:sp>
      <p:sp>
        <p:nvSpPr>
          <p:cNvPr id="11" name="Takeaway 3"/>
          <p:cNvSpPr/>
          <p:nvPr/>
        </p:nvSpPr>
        <p:spPr>
          <a:xfrm>
            <a:off x="457200" y="3017520"/>
            <a:ext cx="566928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</p:sp>
      <p:sp>
        <p:nvSpPr>
          <p:cNvPr id="12" name="Step 3"/>
          <p:cNvSpPr/>
          <p:nvPr/>
        </p:nvSpPr>
        <p:spPr>
          <a:xfrm>
            <a:off x="640080" y="32095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175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Rigorous requirements tracking and testing assure application quality.</a:t>
            </a:r>
            <a:endParaRPr lang="en-US" sz="1450" dirty="0"/>
          </a:p>
        </p:txBody>
      </p:sp>
      <p:sp>
        <p:nvSpPr>
          <p:cNvPr id="15" name="Takeaway 4"/>
          <p:cNvSpPr/>
          <p:nvPr/>
        </p:nvSpPr>
        <p:spPr>
          <a:xfrm>
            <a:off x="457200" y="3886200"/>
            <a:ext cx="566928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</p:sp>
      <p:sp>
        <p:nvSpPr>
          <p:cNvPr id="16" name="Step 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8620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Mission-critical industry software must guarantee reliability and safety.</a:t>
            </a:r>
            <a:endParaRPr lang="en-US" sz="1450" dirty="0"/>
          </a:p>
        </p:txBody>
      </p:sp>
      <p:sp>
        <p:nvSpPr>
          <p:cNvPr id="19" name="Plant icon circle"/>
          <p:cNvSpPr/>
          <p:nvPr/>
        </p:nvSpPr>
        <p:spPr>
          <a:xfrm>
            <a:off x="731520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0" descr="Pla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194310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92240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linganagar Steel">
  <a:themeElements>
    <a:clrScheme name="Kalinganagar Steel">
      <a:dk1>
        <a:srgbClr val="0B1B2E"/>
      </a:dk1>
      <a:lt1>
        <a:srgbClr val="FFFFFF"/>
      </a:lt1>
      <a:dk2>
        <a:srgbClr val="16385C"/>
      </a:dk2>
      <a:lt2>
        <a:srgbClr val="F2F5F8"/>
      </a:lt2>
      <a:accent1>
        <a:srgbClr val="E8651A"/>
      </a:accent1>
      <a:accent2>
        <a:srgbClr val="1F6FB2"/>
      </a:accent2>
      <a:accent3>
        <a:srgbClr val="5B6B7C"/>
      </a:accent3>
      <a:accent4>
        <a:srgbClr val="2E9E6B"/>
      </a:accent4>
      <a:accent5>
        <a:srgbClr val="D9A441"/>
      </a:accent5>
      <a:accent6>
        <a:srgbClr val="C0392B"/>
      </a:accent6>
      <a:hlink>
        <a:srgbClr val="1F6FB2"/>
      </a:hlink>
      <a:folHlink>
        <a:srgbClr val="5B6B7C"/>
      </a:folHlink>
    </a:clrScheme>
    <a:fontScheme name="Kalinganagar Ste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Steel Kalinganagar: Integrated Plant Monitoring &amp; Management Framework</dc:title>
  <dc:subject>PptxGenJS Presentation</dc:subject>
  <dc:creator>KIET Group of Institutions, CSE B</dc:creator>
  <cp:lastModifiedBy>KIET Group of Institutions, CSE B</cp:lastModifiedBy>
  <cp:revision>1</cp:revision>
  <dcterms:created xsi:type="dcterms:W3CDTF">2026-10-27T07:41:23Z</dcterms:created>
  <dcterms:modified xsi:type="dcterms:W3CDTF">2026-10-27T07:41:23Z</dcterms:modified>
</cp:coreProperties>
</file>